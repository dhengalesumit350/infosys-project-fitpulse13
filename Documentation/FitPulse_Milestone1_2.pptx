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6EDF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6EDF3"/>
                </a:solidFill>
                <a:latin typeface="Arial"/>
              </a:rPr>
              <a:t>User Distribution by Daily Step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F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8BF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8A6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9C0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3D1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&lt;2k
Sedentary</c:v>
                  </c:pt>
                  <c:pt idx="1">
                    <c:v>2–5k
Low</c:v>
                  </c:pt>
                  <c:pt idx="2">
                    <c:v>5–8k
Moderate</c:v>
                  </c:pt>
                  <c:pt idx="3">
                    <c:v>8–10k
Active</c:v>
                  </c:pt>
                  <c:pt idx="4">
                    <c:v>10k+
Very Active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110</c:v>
                </c:pt>
                <c:pt idx="2">
                  <c:v>148</c:v>
                </c:pt>
                <c:pt idx="3">
                  <c:v>78</c:v>
                </c:pt>
                <c:pt idx="4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F2D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6EDF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6EDF3"/>
                </a:solidFill>
                <a:latin typeface="Arial"/>
              </a:rPr>
              <a:t>Sleep Stage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Sleep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8A6FF"/>
              </a:solidFill>
              <a:effectLst/>
            </c:spPr>
          </c:dPt>
          <c:dPt>
            <c:idx val="1"/>
            <c:bubble3D val="0"/>
            <c:spPr>
              <a:solidFill>
                <a:srgbClr val="BC8CFF"/>
              </a:solidFill>
              <a:effectLst/>
            </c:spPr>
          </c:dPt>
          <c:dPt>
            <c:idx val="2"/>
            <c:bubble3D val="0"/>
            <c:spPr>
              <a:solidFill>
                <a:srgbClr val="F778B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6EDF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6EDF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6EDF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Light Sleep (1)</c:v>
                </c:pt>
                <c:pt idx="1">
                  <c:v>Deep Sleep (2)</c:v>
                </c:pt>
                <c:pt idx="2">
                  <c:v>REM (3)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183526</c:v>
                </c:pt>
                <c:pt idx="1">
                  <c:v>13010</c:v>
                </c:pt>
                <c:pt idx="2">
                  <c:v>2023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6EDF3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6EDF3"/>
                </a:solidFill>
                <a:latin typeface="Arial"/>
              </a:rPr>
              <a:t>Elbow Curve — Optimal K=3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58A6FF"/>
            </a:solidFill>
            <a:ln w="25400" cap="flat">
              <a:solidFill>
                <a:srgbClr val="58A6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8A6FF"/>
              </a:solidFill>
              <a:ln w="9525" cap="flat">
                <a:solidFill>
                  <a:srgbClr val="58A6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12800</c:v>
                </c:pt>
                <c:pt idx="1">
                  <c:v>5200</c:v>
                </c:pt>
                <c:pt idx="2">
                  <c:v>2100</c:v>
                </c:pt>
                <c:pt idx="3">
                  <c:v>1750</c:v>
                </c:pt>
                <c:pt idx="4">
                  <c:v>1530</c:v>
                </c:pt>
                <c:pt idx="5">
                  <c:v>1420</c:v>
                </c:pt>
                <c:pt idx="6">
                  <c:v>1360</c:v>
                </c:pt>
                <c:pt idx="7">
                  <c:v>1310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F2D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85800"/>
            <a:ext cx="822960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960120"/>
            <a:ext cx="2286000" cy="3200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INFOSYS SPRINGBOARD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FitPulse ML Pipeline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&amp; 2  ·  Data Governance + Feature Extraction &amp; Modeling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1188720" cy="292608"/>
          </a:xfrm>
          <a:prstGeom prst="rect">
            <a:avLst/>
          </a:prstGeom>
          <a:solidFill>
            <a:srgbClr val="1A2335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TSFresh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84832" y="3063240"/>
            <a:ext cx="1188720" cy="292608"/>
          </a:xfrm>
          <a:prstGeom prst="rect">
            <a:avLst/>
          </a:prstGeom>
          <a:solidFill>
            <a:srgbClr val="1A2335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Prophet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46704" y="3063240"/>
            <a:ext cx="1188720" cy="292608"/>
          </a:xfrm>
          <a:prstGeom prst="rect">
            <a:avLst/>
          </a:prstGeom>
          <a:solidFill>
            <a:srgbClr val="1A2335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K-Means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3063240"/>
            <a:ext cx="1188720" cy="292608"/>
          </a:xfrm>
          <a:prstGeom prst="rect">
            <a:avLst/>
          </a:prstGeom>
          <a:solidFill>
            <a:srgbClr val="1A2335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</a:rPr>
              <a:t>DBSCAN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70448" y="3063240"/>
            <a:ext cx="1188720" cy="292608"/>
          </a:xfrm>
          <a:prstGeom prst="rect">
            <a:avLst/>
          </a:prstGeom>
          <a:solidFill>
            <a:srgbClr val="1A2335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78BA"/>
                </a:solidFill>
              </a:rPr>
              <a:t>PCA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3063240"/>
            <a:ext cx="1188720" cy="292608"/>
          </a:xfrm>
          <a:prstGeom prst="rect">
            <a:avLst/>
          </a:prstGeom>
          <a:solidFill>
            <a:srgbClr val="1A2335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D353"/>
                </a:solidFill>
              </a:rPr>
              <a:t>t-SNE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49300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Real Fitbit Device Data  ·  35 Users  ·  March–April 2016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real-world health analytics platform built on Fitbit wearable data from 35 users over 31 days. It processes 1.4M+ rows of activity, sleep and heart rate data through a complete Python + Streamlit ML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9202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19202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</a:rPr>
              <a:t>35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Total 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19202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508760"/>
            <a:ext cx="19202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6276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883E"/>
                </a:solidFill>
              </a:rPr>
              <a:t>1.15M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68880" y="21762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HR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508760"/>
            <a:ext cx="19202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508760"/>
            <a:ext cx="19202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6276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</a:rPr>
              <a:t>31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0" y="21762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Days of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1508760"/>
            <a:ext cx="19202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508760"/>
            <a:ext cx="192024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6276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C8CFF"/>
                </a:solidFill>
              </a:rPr>
              <a:t>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675120" y="21762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CSV Datasets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88920"/>
            <a:ext cx="4023360" cy="2176272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788920"/>
            <a:ext cx="54864" cy="21762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34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01  Milestone 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3200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Data Governance &amp; Cleaning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5204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File upload &amp; validation  ·  Null diagnostics  ·  Cleaning protocol (3 functions)  ·  EDA &amp; analysis  ·  Export cleaned CSV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788920"/>
            <a:ext cx="4023360" cy="2176272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788920"/>
            <a:ext cx="54864" cy="217627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834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</a:rPr>
              <a:t>02  Milestone 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00600" y="3200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Feature Extraction &amp; Modeling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5204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TSFresh feature engineering  ·  Prophet forecasting (30-day)  ·  K-Means &amp; DBSCAN clustering  ·  PCA &amp; t-SNE visualization  ·  Cluster profile analysis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45720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0A1525"/>
                </a:solidFill>
              </a:rPr>
              <a:t>02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4864" cy="3200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38BDF8"/>
                </a:solidFill>
              </a:rPr>
              <a:t>MILESTONE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34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Step 1  ·  Secure CSV ingestion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82112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1821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Step 2  ·  Null value diagnostics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295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Step 3  ·  Automated cleaning protocol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770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Step 4  ·  Column analysis &amp; EDA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24528"/>
            <a:ext cx="201168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24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Step 5  ·  Cleaned dataset export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</a:rPr>
              <a:t>Step 1–3  ·  Data Ingestion &amp; Timestamp Parsing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Milestone 1  ·  All 5 files auto-detected by column structure — 0 nulls across 1.4M rows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6002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6002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241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</a:rPr>
              <a:t>dailyActivity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ROWS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77393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8A6FF"/>
                </a:solidFill>
              </a:rPr>
              <a:t>457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74320" y="2148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15 cols  ·  ✅ Clean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93392" y="960120"/>
            <a:ext cx="16002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960120"/>
            <a:ext cx="16002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0241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</a:rPr>
              <a:t>hourlySteps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93392" y="157276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ROWS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93392" y="177393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FB950"/>
                </a:solidFill>
              </a:rPr>
              <a:t>24,084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993392" y="2148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3 cols  ·  ✅ Clean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12464" y="960120"/>
            <a:ext cx="16002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960120"/>
            <a:ext cx="16002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0241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883E"/>
                </a:solidFill>
              </a:rPr>
              <a:t>hourlyIntensities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12464" y="157276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ROWS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12464" y="177393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883E"/>
                </a:solidFill>
              </a:rPr>
              <a:t>24,084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712464" y="2148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4 cols  ·  ✅ Clean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31536" y="960120"/>
            <a:ext cx="16002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31536" y="960120"/>
            <a:ext cx="16002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1536" y="10241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C8CFF"/>
                </a:solidFill>
              </a:rPr>
              <a:t>minuteSleep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31536" y="157276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ROWS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31536" y="177393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C8CFF"/>
                </a:solidFill>
              </a:rPr>
              <a:t>198,559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431536" y="2148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4 cols  ·  ✅ Clean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50608" y="960120"/>
            <a:ext cx="160020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778B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50608" y="960120"/>
            <a:ext cx="1600200" cy="54864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102412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78BA"/>
                </a:solidFill>
              </a:rPr>
              <a:t>heartrate_seconds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50608" y="157276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ROWS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50608" y="177393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78BA"/>
                </a:solidFill>
              </a:rPr>
              <a:t>1.15 M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7150608" y="2148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</a:rPr>
              <a:t>3 cols  ·  ✅ Clean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852928"/>
            <a:ext cx="859536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8529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Step 4  ·  Null Value Audit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834640" y="28529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Total Nulls: 0  ·  All 5 datasets 100% complete  ·  No imputation required  ·  1,401,884 total rows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34930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Step 3  ·  Governance Protocol — 3 Automated Cleaning Functions: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2743200" cy="1005840"/>
          </a:xfrm>
          <a:prstGeom prst="rect">
            <a:avLst/>
          </a:prstGeom>
          <a:solidFill>
            <a:srgbClr val="1A2335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931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FUNC_01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65760" y="4315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Drop rows with null date values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154680" y="3886200"/>
            <a:ext cx="2743200" cy="1005840"/>
          </a:xfrm>
          <a:prstGeom prst="rect">
            <a:avLst/>
          </a:prstGeom>
          <a:solidFill>
            <a:srgbClr val="1A2335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54680" y="3931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</a:rPr>
              <a:t>FUNC_02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246120" y="4315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Impute missing Workout_Type → 'General'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35040" y="3886200"/>
            <a:ext cx="2743200" cy="1005840"/>
          </a:xfrm>
          <a:prstGeom prst="rect">
            <a:avLst/>
          </a:prstGeom>
          <a:solidFill>
            <a:srgbClr val="1A2335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3931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FUNC_03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126480" y="4315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Mean-fill all numeric columns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</a:rPr>
              <a:t>Step 4–5  ·  EDA &amp; Key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Milestone 1  ·  Correlation matrix · Feature distributions · Activity level analysis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914400"/>
          <a:ext cx="4389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937760" y="914400"/>
          <a:ext cx="3931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401568"/>
            <a:ext cx="20116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3447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8A6FF"/>
                </a:solidFill>
              </a:rPr>
              <a:t>6,547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27432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Avg Steps/Day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450592" y="3401568"/>
            <a:ext cx="20116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50592" y="3447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B950"/>
                </a:solidFill>
              </a:rPr>
              <a:t>2,189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2450592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Avg Calories/Day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26864" y="3401568"/>
            <a:ext cx="20116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26864" y="3447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883E"/>
                </a:solidFill>
              </a:rPr>
              <a:t>79.8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4626864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Avg HR (BPM)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803136" y="3401568"/>
            <a:ext cx="20116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03136" y="3447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C8CFF"/>
                </a:solidFill>
              </a:rPr>
              <a:t>758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6803136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Avg Sedentary Min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45720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0A1525"/>
                </a:solidFill>
              </a:rPr>
              <a:t>02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4864" cy="32004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58A6FF"/>
                </a:solidFill>
              </a:rPr>
              <a:t>MILESTONE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201168" cy="2011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34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Phase 1  ·  Data Ingestion &amp; Cleaning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82112"/>
            <a:ext cx="201168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1821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Phase 2  ·  TSFresh Feature Engineering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201168" cy="20116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295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Phase 3  ·  Prophet Trend Forecasting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201168" cy="20116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770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Phase 4  ·  Clustering &amp; Dim. Reduction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</a:rPr>
              <a:t>Phase 2  ·  TSFresh Feature Engineering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Milestone 2  ·  MinimalFCParameters  ·  14 users × 10 features matrix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8288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778B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144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78BA"/>
                </a:solidFill>
              </a:rPr>
              <a:t>Raw HR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78BA"/>
                </a:solidFill>
              </a:rPr>
              <a:t>1.15M rows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78BA"/>
                </a:solidFill>
              </a:rPr>
              <a:t>seconds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325880"/>
            <a:ext cx="18288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914400"/>
            <a:ext cx="18288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9144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Resample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1-minute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intervals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325880"/>
            <a:ext cx="18288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914400"/>
            <a:ext cx="18288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9144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TSFresh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MinimalFC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Parameters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325880"/>
            <a:ext cx="18288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914400"/>
            <a:ext cx="18288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9144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14 Users 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10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Matrix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011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10 Statistical Features Extracted from Minute-Level Heart Rate Time Series: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423160"/>
            <a:ext cx="16002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23160"/>
            <a:ext cx="16002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146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</a:rPr>
              <a:t>sum_values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108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Total HR sum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93392" y="2423160"/>
            <a:ext cx="16002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93392" y="2423160"/>
            <a:ext cx="16002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25146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</a:rPr>
              <a:t>median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93392" y="3108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Median HR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12464" y="2423160"/>
            <a:ext cx="16002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12464" y="2423160"/>
            <a:ext cx="160020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25146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883E"/>
                </a:solidFill>
              </a:rPr>
              <a:t>mean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12464" y="3108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Average HR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31536" y="2423160"/>
            <a:ext cx="16002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31536" y="2423160"/>
            <a:ext cx="160020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25146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C8CFF"/>
                </a:solidFill>
              </a:rPr>
              <a:t>length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31536" y="3108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Record count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50608" y="2423160"/>
            <a:ext cx="16002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F778B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50608" y="2423160"/>
            <a:ext cx="1600200" cy="45720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0608" y="25146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78BA"/>
                </a:solidFill>
              </a:rPr>
              <a:t>standard_dev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50608" y="31089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HR variability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657600"/>
            <a:ext cx="16002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657600"/>
            <a:ext cx="1600200" cy="457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9D353"/>
                </a:solidFill>
              </a:rPr>
              <a:t>variance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343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Spread measure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93392" y="3657600"/>
            <a:ext cx="16002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993392" y="3657600"/>
            <a:ext cx="16002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93392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</a:rPr>
              <a:t>root_mean_sq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993392" y="4343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RMS of signal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12464" y="3657600"/>
            <a:ext cx="16002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712464" y="3657600"/>
            <a:ext cx="160020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12464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883E"/>
                </a:solidFill>
              </a:rPr>
              <a:t>maximum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712464" y="4343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Peak HR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31536" y="3657600"/>
            <a:ext cx="16002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431536" y="3657600"/>
            <a:ext cx="16002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31536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</a:rPr>
              <a:t>abs_maximum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31536" y="4343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Absolute peak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50608" y="3657600"/>
            <a:ext cx="1600200" cy="1115568"/>
          </a:xfrm>
          <a:prstGeom prst="rect">
            <a:avLst/>
          </a:prstGeom>
          <a:solidFill>
            <a:srgbClr val="111827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150608" y="3657600"/>
            <a:ext cx="160020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50608" y="37490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C8CFF"/>
                </a:solidFill>
              </a:rPr>
              <a:t>minimum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150608" y="43434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Resting floor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</a:rPr>
              <a:t>Phase 3  ·  Prophet Trend Forecasting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⚙️  Config: Weekly Seasonality ✅  ·  Daily Seasonality ❌  ·  80% Confidence Interval  ·  Changepoint Scale = 0.1  ·  Horizon = 30 days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7432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44752"/>
            <a:ext cx="27432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179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883E"/>
                </a:solidFill>
              </a:rPr>
              <a:t>❤️  Heart Rate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29968"/>
            <a:ext cx="2194560" cy="5029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Training Points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883E"/>
                </a:solidFill>
              </a:rPr>
              <a:t>15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2194560" cy="5029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334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Observed Range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8712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</a:rPr>
              <a:t>69.5 – 78.3 BPM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194560" cy="34747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+30 day forecast  ·  80% CI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82112" y="1444752"/>
            <a:ext cx="27432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1444752"/>
            <a:ext cx="27432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15179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</a:rPr>
              <a:t>👟  Daily Steps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56432" y="2029968"/>
            <a:ext cx="2194560" cy="5029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Training Points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56432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</a:rPr>
              <a:t>31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456432" y="2633472"/>
            <a:ext cx="2194560" cy="5029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26334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Observed Range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56432" y="28712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0 – 28,497 steps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56432" y="3246120"/>
            <a:ext cx="2194560" cy="3474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3246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+30 day forecast  ·  80% CI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9904" y="1444752"/>
            <a:ext cx="274320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1444752"/>
            <a:ext cx="27432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15179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C8CFF"/>
                </a:solidFill>
              </a:rPr>
              <a:t>😴  Sleep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64224" y="2029968"/>
            <a:ext cx="2194560" cy="5029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Training Points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64224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8CFF"/>
                </a:solidFill>
              </a:rPr>
              <a:t>23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364224" y="2633472"/>
            <a:ext cx="2194560" cy="5029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263347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Observed Range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64224" y="28712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</a:rPr>
              <a:t>310 – 460 min/day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64224" y="3246120"/>
            <a:ext cx="2194560" cy="34747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3246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</a:rPr>
              <a:t>+30 day forecast  ·  80% CI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931920"/>
            <a:ext cx="859536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</a:rPr>
              <a:t>📈  Key Insights: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325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Heart rate shows a mild upward trend.  Daily steps reveal clear weekly seasonality — users are more active on weekdays.  Sleep duration trends slightly downward over the observation period.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</a:rPr>
              <a:t>Phase 4  ·  Clustering &amp; Dimensionality Reduction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Milestone 2  ·  K-Means  ·  DBSCAN  ·  PCA  ·  t-SNE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4206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54864" cy="12801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</a:rPr>
              <a:t>K-Means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K=3  (Elbow Curve)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Hard clustering. Elbow at K=3 shows optimal inertia. Users split into 3 activity profiles.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32688"/>
            <a:ext cx="4206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32688"/>
            <a:ext cx="54864" cy="12801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</a:rPr>
              <a:t>DBSCAN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13533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eps=2.2  ·  min_samples=2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59105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Density-based. 3 clusters found + 1 noise user (2.9% outlier rate).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50008"/>
            <a:ext cx="4206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50008"/>
            <a:ext cx="54864" cy="128016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23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83E"/>
                </a:solidFill>
              </a:rPr>
              <a:t>PCA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11480" y="27706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2 Components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0083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Reduces 7 features to 2D. PC1+PC2 capture the majority of total variance.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350008"/>
            <a:ext cx="42062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350008"/>
            <a:ext cx="54864" cy="12801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23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C8CFF"/>
                </a:solidFill>
              </a:rPr>
              <a:t>t-SNE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46320" y="27706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perplexity=30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0083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Non-linear 2D embedding. Confirms K-Means grouping is meaningful and separable.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74320" y="3886200"/>
          <a:ext cx="420624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4663440" y="3886200"/>
            <a:ext cx="10058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39319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</a:rPr>
              <a:t>3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4663440" y="443484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K-Means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Clusters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760720" y="3886200"/>
            <a:ext cx="10058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60720" y="39319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B950"/>
                </a:solidFill>
              </a:rPr>
              <a:t>3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760720" y="443484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DBSCAN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Clusters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858000" y="3886200"/>
            <a:ext cx="10058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0" y="39319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B72"/>
                </a:solidFill>
              </a:rPr>
              <a:t>1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6858000" y="443484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Noise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Users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955280" y="3886200"/>
            <a:ext cx="10058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55280" y="39319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83E"/>
                </a:solidFill>
              </a:rPr>
              <a:t>2.9%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7955280" y="443484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Outlier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Rate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</a:rPr>
              <a:t>Step 27  ·  Cluster Profiles — Grand Finale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K=3  ·  35 Users segmented into 3 distinct activity profiles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274320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27432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69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FB950"/>
                </a:solidFill>
              </a:rPr>
              <a:t>Cluster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🚶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Moderately Active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148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12 users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87168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Avg Steps/Day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4871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7,038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980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Calories/Day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7980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2,213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108960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Sedentary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3108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758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419856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198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Very Active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3419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13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730752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30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Sleep Min/Day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7307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395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06908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</a:rPr>
              <a:t>Gets some exercise but not consistently hitting the 10k step target each day.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18688" y="987552"/>
            <a:ext cx="274320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987552"/>
            <a:ext cx="2743200" cy="64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8688" y="1069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0883E"/>
                </a:solidFill>
              </a:rPr>
              <a:t>Cluster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18688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🛋️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218688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</a:rPr>
              <a:t>Sedentary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18688" y="2148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15 users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55848" y="2487168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Avg Steps/Day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24871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3,238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55848" y="2798064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27980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Calories/Day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3168" y="27980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1,793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55848" y="3108960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1568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Sedentary Min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3108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1,194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55848" y="3419856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1568" y="34198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Very Active Min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73168" y="3419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55848" y="3730752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1568" y="3730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Sleep Min/Day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73168" y="37307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310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55848" y="406908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</a:rPr>
              <a:t>Largest group. ~20 hrs/day sedentary. Very low active minutes — significant health risk.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63056" y="987552"/>
            <a:ext cx="274320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63056" y="987552"/>
            <a:ext cx="27432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3056" y="1069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8A6FF"/>
                </a:solidFill>
              </a:rPr>
              <a:t>Cluster 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63056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🏃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6163056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Highly Active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163056" y="2148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8 users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00216" y="2487168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45936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Avg Steps/Day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17536" y="24871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11,034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00216" y="2798064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45936" y="27980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Calories/Day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717536" y="27980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2,901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300216" y="3108960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45936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Sedentary Min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17536" y="3108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953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300216" y="3419856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45936" y="34198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Very Active Min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717536" y="3419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51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300216" y="3730752"/>
            <a:ext cx="2468880" cy="274320"/>
          </a:xfrm>
          <a:prstGeom prst="rect">
            <a:avLst/>
          </a:prstGeom>
          <a:solidFill>
            <a:srgbClr val="1A2335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45936" y="3730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Sleep Min/Day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717536" y="37307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420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300216" y="406908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</a:rPr>
              <a:t>Exceeds 10k step goal daily. Highest calorie burn and most very-active minutes per day.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</a:rPr>
              <a:t>Streamlit App — Interactive ML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D353"/>
                </a:solidFill>
              </a:rPr>
              <a:t>fitpulse_combined.py  ·  streamlit run fitpulse_combined.py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274320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54864" cy="15361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124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Sidebar Navigation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25237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Switch between Milestone 1 &amp; 2. Independent session state — switching doesn't reset the other.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2112" y="987552"/>
            <a:ext cx="274320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987552"/>
            <a:ext cx="54864" cy="15361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097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Single File Upload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572768"/>
            <a:ext cx="25237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Upload all 6 CSVs at once. Auto-detected by column structure — no renaming needed.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987552"/>
            <a:ext cx="274320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987552"/>
            <a:ext cx="54864" cy="15361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097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56832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</a:rPr>
              <a:t>Values on Every Chart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9632" y="1572768"/>
            <a:ext cx="25237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Every bar, scatter point, and heatmap cell shows exact values. Named axes everywhere.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51760"/>
            <a:ext cx="274320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651760"/>
            <a:ext cx="54864" cy="15361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614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1248" y="27614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</a:rPr>
              <a:t>Phase-by-Phase Buttons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236976"/>
            <a:ext cx="25237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Run Phase 1→2→3→4 step by step. Next-phase button appears at the bottom of each phase.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82112" y="2651760"/>
            <a:ext cx="274320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F778B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2651760"/>
            <a:ext cx="54864" cy="1536192"/>
          </a:xfrm>
          <a:prstGeom prst="rect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27614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749040" y="27614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8BA"/>
                </a:solidFill>
              </a:rPr>
              <a:t>Download Every Chart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236976"/>
            <a:ext cx="25237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PNG download button below every submission screenshot for easy export and sharing.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9904" y="2651760"/>
            <a:ext cx="2743200" cy="1536192"/>
          </a:xfrm>
          <a:prstGeom prst="rect">
            <a:avLst/>
          </a:prstGeom>
          <a:solidFill>
            <a:srgbClr val="111827"/>
          </a:solidFill>
          <a:ln w="12700">
            <a:solidFill>
              <a:srgbClr val="39D3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2651760"/>
            <a:ext cx="54864" cy="153619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27614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56832" y="27614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D353"/>
                </a:solidFill>
              </a:rPr>
              <a:t>Fast Caching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99632" y="3236976"/>
            <a:ext cx="25237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@st.cache_data on all heavy jobs — TSFresh, Prophet, clustering run once then instant.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Summary &amp; Key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✅  Achieved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201168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98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1.4M+ rows cleaned with 0 null values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201168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007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10 TSFresh features per user extracted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201168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 Prophet forecasts with 80% 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201168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505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K=3 optimal clusters via elbow curve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201168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907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PCA &amp; t-SNE 2D visualizations built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201168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310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 user activity profiles identified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201168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7124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Full interactive Streamlit app deployed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201168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All charts annotated with exact values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777240"/>
            <a:ext cx="420624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🏆  Cluster Profiles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325880"/>
            <a:ext cx="3931920" cy="402336"/>
          </a:xfrm>
          <a:prstGeom prst="rect">
            <a:avLst/>
          </a:prstGeom>
          <a:solidFill>
            <a:srgbClr val="1A2335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3258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🚶 Moderately Active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13258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12 users  ·  7,038 steps/day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801368"/>
            <a:ext cx="3931920" cy="402336"/>
          </a:xfrm>
          <a:prstGeom prst="rect">
            <a:avLst/>
          </a:prstGeom>
          <a:solidFill>
            <a:srgbClr val="1A2335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8013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🛋️ Sedentary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18013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15 users  ·  3,238 steps/day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276856"/>
            <a:ext cx="3931920" cy="402336"/>
          </a:xfrm>
          <a:prstGeom prst="rect">
            <a:avLst/>
          </a:prstGeom>
          <a:solidFill>
            <a:srgbClr val="1A2335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27685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🏃 Highly Active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227685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8 users  ·  11,034 steps/day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063240"/>
            <a:ext cx="420624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</a:rPr>
              <a:t>🛠  Tech Stack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3584448"/>
            <a:ext cx="1298448" cy="384048"/>
          </a:xfrm>
          <a:prstGeom prst="rect">
            <a:avLst/>
          </a:prstGeom>
          <a:solidFill>
            <a:srgbClr val="1A2335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5844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78BA"/>
                </a:solidFill>
              </a:rPr>
              <a:t>Streamlit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4768" y="3584448"/>
            <a:ext cx="1298448" cy="384048"/>
          </a:xfrm>
          <a:prstGeom prst="rect">
            <a:avLst/>
          </a:prstGeom>
          <a:solidFill>
            <a:srgbClr val="1A2335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35844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TSFresh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34656" y="3584448"/>
            <a:ext cx="1298448" cy="384048"/>
          </a:xfrm>
          <a:prstGeom prst="rect">
            <a:avLst/>
          </a:prstGeom>
          <a:solidFill>
            <a:srgbClr val="1A2335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34656" y="35844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Prophet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059936"/>
            <a:ext cx="1298448" cy="384048"/>
          </a:xfrm>
          <a:prstGeom prst="rect">
            <a:avLst/>
          </a:prstGeom>
          <a:solidFill>
            <a:srgbClr val="1A2335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0599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44768" y="4059936"/>
            <a:ext cx="1298448" cy="384048"/>
          </a:xfrm>
          <a:prstGeom prst="rect">
            <a:avLst/>
          </a:prstGeom>
          <a:solidFill>
            <a:srgbClr val="1A2335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40599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D353"/>
                </a:solidFill>
              </a:rPr>
              <a:t>Pandas/NumPy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34656" y="4059936"/>
            <a:ext cx="1298448" cy="384048"/>
          </a:xfrm>
          <a:prstGeom prst="rect">
            <a:avLst/>
          </a:prstGeom>
          <a:solidFill>
            <a:srgbClr val="1A2335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34656" y="405993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</a:rPr>
              <a:t>Matplotlib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FitPulse ML Pipeline — Milestone 1 &amp; 2</dc:title>
  <dc:subject>PptxGenJS Presentation</dc:subject>
  <dc:creator>PptxGenJS</dc:creator>
  <cp:lastModifiedBy>PptxGenJS</cp:lastModifiedBy>
  <cp:revision>1</cp:revision>
  <dcterms:created xsi:type="dcterms:W3CDTF">2026-03-17T16:30:06Z</dcterms:created>
  <dcterms:modified xsi:type="dcterms:W3CDTF">2026-03-17T16:30:06Z</dcterms:modified>
</cp:coreProperties>
</file>